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3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Manual Hours / Week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65A8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 AI
(0–10 hrs)</c:v>
                  </c:pt>
                  <c:pt idx="1">
                    <c:v>Medium AI
(10–20 hrs)</c:v>
                  </c:pt>
                  <c:pt idx="2">
                    <c:v>High AI
(20–30 hrs)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22.1</c:v>
                </c:pt>
                <c:pt idx="1">
                  <c:v>18.4</c:v>
                </c:pt>
                <c:pt idx="2">
                  <c:v>10.3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65A8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AI Usage (hrs/week)</c:v>
                </c:pt>
              </c:strCache>
            </c:strRef>
          </c:tx>
          <c:spPr>
            <a:solidFill>
              <a:srgbClr val="9BB8C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65A8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9BB8C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9BB8C1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Manager</c:v>
                  </c:pt>
                  <c:pt idx="1">
                    <c:v>Designer</c:v>
                  </c:pt>
                  <c:pt idx="2">
                    <c:v>Analyst</c:v>
                  </c:pt>
                  <c:pt idx="3">
                    <c:v>Marketer</c:v>
                  </c:pt>
                  <c:pt idx="4">
                    <c:v>Writer</c:v>
                  </c:pt>
                  <c:pt idx="5">
                    <c:v>Developer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5.1</c:v>
                </c:pt>
                <c:pt idx="1">
                  <c:v>5.2</c:v>
                </c:pt>
                <c:pt idx="2">
                  <c:v>9.9</c:v>
                </c:pt>
                <c:pt idx="3">
                  <c:v>10.1</c:v>
                </c:pt>
                <c:pt idx="4">
                  <c:v>15</c:v>
                </c:pt>
                <c:pt idx="5">
                  <c:v>15.4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65A8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Work-Life Balance Score</c:v>
                </c:pt>
              </c:strCache>
            </c:strRef>
          </c:tx>
          <c:spPr>
            <a:solidFill>
              <a:srgbClr val="0A93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65A8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A939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 AI
(0–10 hrs)</c:v>
                  </c:pt>
                  <c:pt idx="1">
                    <c:v>Medium AI
(10–20 hrs)</c:v>
                  </c:pt>
                  <c:pt idx="2">
                    <c:v>High AI
(20–30 hrs)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4.77</c:v>
                </c:pt>
                <c:pt idx="1">
                  <c:v>4.77</c:v>
                </c:pt>
                <c:pt idx="2">
                  <c:v>4.05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65A8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"/>
          <c:min val="3"/>
        </c:scaling>
        <c:delete val="0"/>
        <c:axPos val="l"/>
        <c:majorGridlines>
          <c:spPr>
            <a:ln w="6350" cap="flat">
              <a:solidFill>
                <a:srgbClr val="D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High</c:v>
                </c:pt>
              </c:strCache>
            </c:strRef>
          </c:tx>
          <c:spPr>
            <a:solidFill>
              <a:srgbClr val="E07A5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Analyst</c:v>
                  </c:pt>
                  <c:pt idx="1">
                    <c:v>Designer</c:v>
                  </c:pt>
                  <c:pt idx="2">
                    <c:v>Developer</c:v>
                  </c:pt>
                  <c:pt idx="3">
                    <c:v>Manager</c:v>
                  </c:pt>
                  <c:pt idx="4">
                    <c:v>Marketer</c:v>
                  </c:pt>
                  <c:pt idx="5">
                    <c:v>Writer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55</c:v>
                </c:pt>
                <c:pt idx="1">
                  <c:v>60</c:v>
                </c:pt>
                <c:pt idx="2">
                  <c:v>52</c:v>
                </c:pt>
                <c:pt idx="3">
                  <c:v>65</c:v>
                </c:pt>
                <c:pt idx="4">
                  <c:v>50</c:v>
                </c:pt>
                <c:pt idx="5">
                  <c:v>58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Medium</c:v>
                </c:pt>
              </c:strCache>
            </c:strRef>
          </c:tx>
          <c:spPr>
            <a:solidFill>
              <a:srgbClr val="F4A2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Analyst</c:v>
                  </c:pt>
                  <c:pt idx="1">
                    <c:v>Designer</c:v>
                  </c:pt>
                  <c:pt idx="2">
                    <c:v>Developer</c:v>
                  </c:pt>
                  <c:pt idx="3">
                    <c:v>Manager</c:v>
                  </c:pt>
                  <c:pt idx="4">
                    <c:v>Marketer</c:v>
                  </c:pt>
                  <c:pt idx="5">
                    <c:v>Writer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28</c:v>
                </c:pt>
                <c:pt idx="1">
                  <c:v>25</c:v>
                </c:pt>
                <c:pt idx="2">
                  <c:v>30</c:v>
                </c:pt>
                <c:pt idx="3">
                  <c:v>22</c:v>
                </c:pt>
                <c:pt idx="4">
                  <c:v>32</c:v>
                </c:pt>
                <c:pt idx="5">
                  <c:v>27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Low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Analyst</c:v>
                  </c:pt>
                  <c:pt idx="1">
                    <c:v>Designer</c:v>
                  </c:pt>
                  <c:pt idx="2">
                    <c:v>Developer</c:v>
                  </c:pt>
                  <c:pt idx="3">
                    <c:v>Manager</c:v>
                  </c:pt>
                  <c:pt idx="4">
                    <c:v>Marketer</c:v>
                  </c:pt>
                  <c:pt idx="5">
                    <c:v>Writer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17</c:v>
                </c:pt>
                <c:pt idx="1">
                  <c:v>15</c:v>
                </c:pt>
                <c:pt idx="2">
                  <c:v>18</c:v>
                </c:pt>
                <c:pt idx="3">
                  <c:v>13</c:v>
                </c:pt>
                <c:pt idx="4">
                  <c:v>18</c:v>
                </c:pt>
                <c:pt idx="5">
                  <c:v>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D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Error Rate (%)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65A8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E07A5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Low
Pressure</c:v>
                  </c:pt>
                  <c:pt idx="1">
                    <c:v>Medium
Pressure</c:v>
                  </c:pt>
                  <c:pt idx="2">
                    <c:v>High
Pressure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1.7</c:v>
                </c:pt>
                <c:pt idx="1">
                  <c:v>2.1</c:v>
                </c:pt>
                <c:pt idx="2">
                  <c:v>2.5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65A8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D1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627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5-1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4.xml"/><Relationship Id="rId3" Type="http://schemas.openxmlformats.org/officeDocument/2006/relationships/chart" Target="/ppt/charts/chart5.xml"/><Relationship Id="rId1" Type="http://schemas.openxmlformats.org/officeDocument/2006/relationships/image" Target="../media/image-6-1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040F1E">
              <a:alpha val="82000"/>
            </a:srgbClr>
          </a:solidFill>
          <a:ln w="12700">
            <a:solidFill>
              <a:srgbClr val="040F1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5943600" y="0"/>
            <a:ext cx="6400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502920" y="502920"/>
            <a:ext cx="521208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Workplace</a:t>
            </a:r>
            <a:endParaRPr lang="en-US" sz="5400" dirty="0"/>
          </a:p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Productivity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502920" y="3886200"/>
            <a:ext cx="5212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CA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&amp; Machine Learning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02920" y="4343400"/>
            <a:ext cx="5212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WINNIE NDUVA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007608" y="0"/>
            <a:ext cx="3136392" cy="5143500"/>
          </a:xfrm>
          <a:prstGeom prst="rect">
            <a:avLst/>
          </a:prstGeom>
          <a:solidFill>
            <a:srgbClr val="040F1E">
              <a:alpha val="55000"/>
            </a:srgbClr>
          </a:solidFill>
          <a:ln w="12700">
            <a:solidFill>
              <a:srgbClr val="040F1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217920" y="1188720"/>
            <a:ext cx="2743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4,500</a:t>
            </a:r>
            <a:endParaRPr lang="en-US" sz="32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2C39A"/>
                </a:solidFill>
              </a:rPr>
              <a:t>Employees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126480" y="228600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6  Job Roles  ·  15 Features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8ECAE6"/>
                </a:solidFill>
              </a:rPr>
              <a:t>Kaggle Dataset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400800" y="3108960"/>
            <a:ext cx="2286000" cy="36576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26480" y="329184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ECAE6"/>
                </a:solidFill>
              </a:rPr>
              <a:t>AI Workplace Study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9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0" y="0"/>
            <a:ext cx="38404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03520" y="0"/>
            <a:ext cx="3840480" cy="5143500"/>
          </a:xfrm>
          <a:prstGeom prst="rect">
            <a:avLst/>
          </a:prstGeom>
          <a:solidFill>
            <a:srgbClr val="065A82">
              <a:alpha val="60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82880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2600" dirty="0"/>
          </a:p>
        </p:txBody>
      </p:sp>
      <p:sp>
        <p:nvSpPr>
          <p:cNvPr id="5" name="Shape 2"/>
          <p:cNvSpPr/>
          <p:nvPr/>
        </p:nvSpPr>
        <p:spPr>
          <a:xfrm>
            <a:off x="457200" y="822960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8961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4,500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457200" y="13898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Employees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88920" y="822960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2788920" y="896112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6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2788920" y="1389888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Job Roles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57200" y="1938528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457200" y="20116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15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457200" y="25054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Features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2788920" y="1938528"/>
            <a:ext cx="214884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1C7293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9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2788920" y="20116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2C39A"/>
                </a:solidFill>
              </a:rPr>
              <a:t>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2788920" y="2505456"/>
            <a:ext cx="2148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6278"/>
                </a:solidFill>
              </a:rPr>
              <a:t>Null Values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440680" y="32004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C39A"/>
                </a:solidFill>
              </a:rPr>
              <a:t>Key Variables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5440680" y="74980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ai_tool_usage_hours_per_week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440680" y="118872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tasks_automated_percent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5440680" y="162763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manual_work_hours_per_week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5440680" y="206654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work_life_balance_score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5440680" y="2505456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burnout_risk_score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440680" y="2944368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focus_hours_per_day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5440680" y="3383280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deadline_pressure_level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440680" y="3822192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productivity_score  (target)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5440680" y="4261104"/>
            <a:ext cx="3474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burnout_risk_level  (target)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9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FINDING 1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1031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Higher AI Usage → Fewer Manual Work Hours</a:t>
            </a:r>
            <a:endParaRPr lang="en-US" sz="2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05840"/>
          <a:ext cx="54864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080760" y="1005840"/>
            <a:ext cx="2834640" cy="3520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80760" y="11887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Key Insight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6080760" y="1572768"/>
            <a:ext cx="2834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54%</a:t>
            </a:r>
            <a:endParaRPr lang="en-US" sz="5200" dirty="0"/>
          </a:p>
        </p:txBody>
      </p:sp>
      <p:sp>
        <p:nvSpPr>
          <p:cNvPr id="11" name="Text 7"/>
          <p:cNvSpPr/>
          <p:nvPr/>
        </p:nvSpPr>
        <p:spPr>
          <a:xfrm>
            <a:off x="6172200" y="2395728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reduction in manual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ECAE6"/>
                </a:solidFill>
              </a:rPr>
              <a:t>work hours (Low→High AI)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537960" y="3154680"/>
            <a:ext cx="1920240" cy="2743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172200" y="3291840"/>
            <a:ext cx="2651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2C39A"/>
                </a:solidFill>
              </a:rPr>
              <a:t>Recommendation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6172200" y="3566160"/>
            <a:ext cx="2651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ECAE6"/>
                </a:solidFill>
              </a:rPr>
              <a:t>Scale AI adoption</a:t>
            </a:r>
            <a:endParaRPr lang="en-US" sz="950" dirty="0"/>
          </a:p>
          <a:p>
            <a:pPr algn="ctr" indent="0" marL="0">
              <a:buNone/>
            </a:pPr>
            <a:r>
              <a:rPr lang="en-US" sz="950" i="1" dirty="0">
                <a:solidFill>
                  <a:srgbClr val="8ECAE6"/>
                </a:solidFill>
              </a:rPr>
              <a:t>across all roles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9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1200">
              <a:alpha val="70000"/>
            </a:srgbClr>
          </a:solidFill>
          <a:ln w="12700">
            <a:solidFill>
              <a:srgbClr val="001200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FINDING 2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1031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Adoption Varies Significantly Across Job Roles</a:t>
            </a:r>
            <a:endParaRPr lang="en-US" sz="2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05840"/>
          <a:ext cx="566928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6217920" y="10972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02C39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6217920" y="1097280"/>
            <a:ext cx="2743200" cy="32004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217920" y="1097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65A82"/>
                </a:solidFill>
              </a:rPr>
              <a:t>HIGH ADOPTERS</a:t>
            </a:r>
            <a:endParaRPr lang="en-US" sz="850" dirty="0"/>
          </a:p>
        </p:txBody>
      </p:sp>
      <p:sp>
        <p:nvSpPr>
          <p:cNvPr id="11" name="Text 7"/>
          <p:cNvSpPr/>
          <p:nvPr/>
        </p:nvSpPr>
        <p:spPr>
          <a:xfrm>
            <a:off x="6309360" y="14813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Developer, Writer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6309360" y="18288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~15 hrs/wk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6217920" y="2926080"/>
            <a:ext cx="27432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7A5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6217920" y="2926080"/>
            <a:ext cx="2743200" cy="320040"/>
          </a:xfrm>
          <a:prstGeom prst="rect">
            <a:avLst/>
          </a:prstGeom>
          <a:solidFill>
            <a:srgbClr val="E07A5F"/>
          </a:solidFill>
          <a:ln w="12700">
            <a:solidFill>
              <a:srgbClr val="E07A5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21792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LOW ADOPTERS</a:t>
            </a:r>
            <a:endParaRPr lang="en-US" sz="850" dirty="0"/>
          </a:p>
        </p:txBody>
      </p:sp>
      <p:sp>
        <p:nvSpPr>
          <p:cNvPr id="16" name="Text 12"/>
          <p:cNvSpPr/>
          <p:nvPr/>
        </p:nvSpPr>
        <p:spPr>
          <a:xfrm>
            <a:off x="6309360" y="331012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</a:rPr>
              <a:t>Manager, Designer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09360" y="365760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07A5F"/>
                </a:solidFill>
              </a:rPr>
              <a:t>~5 hrs/wk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6217920" y="46634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4A6278"/>
                </a:solidFill>
              </a:rPr>
              <a:t>Prioritize AI training for</a:t>
            </a:r>
            <a:endParaRPr lang="en-US" sz="850" dirty="0"/>
          </a:p>
          <a:p>
            <a:pPr algn="ctr" indent="0" marL="0">
              <a:buNone/>
            </a:pPr>
            <a:r>
              <a:rPr lang="en-US" sz="850" i="1" dirty="0">
                <a:solidFill>
                  <a:srgbClr val="4A6278"/>
                </a:solidFill>
              </a:rPr>
              <a:t>Managers &amp; Designers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9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>
              <a:alpha val="75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FINDING 3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103120" y="20116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AI &amp; Work-Life Balance: A Nuanced Picture</a:t>
            </a:r>
            <a:endParaRPr lang="en-US" sz="200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365760" y="1005840"/>
          <a:ext cx="539496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Shape 4"/>
          <p:cNvSpPr/>
          <p:nvPr/>
        </p:nvSpPr>
        <p:spPr>
          <a:xfrm>
            <a:off x="5989320" y="1005840"/>
            <a:ext cx="2926080" cy="352044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080760" y="1188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What This Means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126480" y="1709928"/>
            <a:ext cx="274320" cy="2743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126480" y="17099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✓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492240" y="16916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</a:rPr>
              <a:t>Low &amp; Medium AI users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</a:rPr>
              <a:t>show similar WLB scores (~4.77)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126480" y="2606040"/>
            <a:ext cx="274320" cy="27432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126480" y="26060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!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492240" y="2587752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</a:rPr>
              <a:t>High AI users score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</a:rPr>
              <a:t>noticeably lower (~4.05)</a:t>
            </a:r>
            <a:endParaRPr lang="en-US" sz="950" dirty="0"/>
          </a:p>
        </p:txBody>
      </p:sp>
      <p:sp>
        <p:nvSpPr>
          <p:cNvPr id="16" name="Shape 12"/>
          <p:cNvSpPr/>
          <p:nvPr/>
        </p:nvSpPr>
        <p:spPr>
          <a:xfrm>
            <a:off x="6126480" y="3502152"/>
            <a:ext cx="274320" cy="274320"/>
          </a:xfrm>
          <a:prstGeom prst="ellipse">
            <a:avLst/>
          </a:prstGeom>
          <a:solidFill>
            <a:srgbClr val="8ECAE6"/>
          </a:solidFill>
          <a:ln w="12700">
            <a:solidFill>
              <a:srgbClr val="8ECAE6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126480" y="3502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65A82"/>
                </a:solidFill>
              </a:rPr>
              <a:t>→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492240" y="3483864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</a:rPr>
              <a:t>May reflect heavier workloads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B0CCDD"/>
                </a:solidFill>
              </a:rPr>
              <a:t>or over-reliance on AI tools</a:t>
            </a:r>
            <a:endParaRPr lang="en-US" sz="950" dirty="0"/>
          </a:p>
        </p:txBody>
      </p:sp>
      <p:sp>
        <p:nvSpPr>
          <p:cNvPr id="19" name="Text 15"/>
          <p:cNvSpPr/>
          <p:nvPr/>
        </p:nvSpPr>
        <p:spPr>
          <a:xfrm>
            <a:off x="6080760" y="416052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2C39A"/>
                </a:solidFill>
              </a:rPr>
              <a:t>Encourage balanced AI usage,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i="1" dirty="0">
                <a:solidFill>
                  <a:srgbClr val="02C39A"/>
                </a:solidFill>
              </a:rPr>
              <a:t>not maximization.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9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17920" y="0"/>
            <a:ext cx="292608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065A82">
              <a:alpha val="82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365760" y="13716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65A82"/>
                </a:solidFill>
              </a:rPr>
              <a:t>Burnout Risk &amp; Deadline Pressure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365760" y="65836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Burnout Risk by Job Role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365760" y="987552"/>
          <a:ext cx="438912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4892040" y="658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7293"/>
                </a:solidFill>
              </a:rPr>
              <a:t>Deadline Pressure vs. Error Rate</a:t>
            </a:r>
            <a:endParaRPr lang="en-US" sz="1100" dirty="0"/>
          </a:p>
        </p:txBody>
      </p:sp>
      <p:graphicFrame>
        <p:nvGraphicFramePr>
          <p:cNvPr id="8" name="Chart 1" descr=""/>
          <p:cNvGraphicFramePr/>
          <p:nvPr/>
        </p:nvGraphicFramePr>
        <p:xfrm>
          <a:off x="4892040" y="987552"/>
          <a:ext cx="4114800" cy="35204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0F1E">
              <a:alpha val="88000"/>
            </a:srgbClr>
          </a:solidFill>
          <a:ln w="12700">
            <a:solidFill>
              <a:srgbClr val="040F1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182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5A82"/>
                </a:solidFill>
              </a:rPr>
              <a:t>MACHINE LEARNING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2103120" y="164592"/>
            <a:ext cx="68580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Predictive Models: Productivity &amp; Burnout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365760" y="777240"/>
            <a:ext cx="4114800" cy="4023360"/>
          </a:xfrm>
          <a:prstGeom prst="rect">
            <a:avLst/>
          </a:prstGeom>
          <a:solidFill>
            <a:srgbClr val="0A1628">
              <a:alpha val="90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6576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Regression  ·  Random Forest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02920" y="1243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A7C2"/>
                </a:solidFill>
              </a:rPr>
              <a:t>Target: productivity_score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02920" y="16276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CAE6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2514600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21305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CAE6"/>
                </a:solidFill>
              </a:rPr>
              <a:t>Train / Test: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2514600" y="21305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80%  /  20%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02920" y="2633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CAE6"/>
                </a:solidFill>
              </a:rPr>
              <a:t>MAE (error):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251460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~4.2 pts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02920" y="3136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CAE6"/>
                </a:solidFill>
              </a:rPr>
              <a:t>R² Score: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2514600" y="31363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~0.87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02920" y="3657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7C2"/>
                </a:solidFill>
              </a:rPr>
              <a:t>Top predictors: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7C2"/>
                </a:solidFill>
              </a:rPr>
              <a:t>focus_hours_per_day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7C2"/>
                </a:solidFill>
              </a:rPr>
              <a:t>tasks_automated_percent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7C2"/>
                </a:solidFill>
              </a:rPr>
              <a:t>ai_tool_usage_hours_per_week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663440" y="777240"/>
            <a:ext cx="4114800" cy="4023360"/>
          </a:xfrm>
          <a:prstGeom prst="rect">
            <a:avLst/>
          </a:prstGeom>
          <a:solidFill>
            <a:srgbClr val="0A1628">
              <a:alpha val="90000"/>
            </a:srgbClr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663440" y="777240"/>
            <a:ext cx="4114800" cy="384048"/>
          </a:xfrm>
          <a:prstGeom prst="rect">
            <a:avLst/>
          </a:prstGeom>
          <a:solidFill>
            <a:srgbClr val="0A9396"/>
          </a:solidFill>
          <a:ln w="12700">
            <a:solidFill>
              <a:srgbClr val="0A9396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663440" y="7772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Classification  ·  Random Forest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00600" y="124358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BA7C2"/>
                </a:solidFill>
              </a:rPr>
              <a:t>Target: burnout_risk_level  (Low / Medium / High)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800600" y="162763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CAE6"/>
                </a:solidFill>
              </a:rPr>
              <a:t>Algorithm: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6812280" y="162763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Random Forest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4800600" y="213055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CAE6"/>
                </a:solidFill>
              </a:rPr>
              <a:t>Train / Test: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12280" y="213055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80%  /  20%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800600" y="26334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CAE6"/>
                </a:solidFill>
              </a:rPr>
              <a:t>Class Weights: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12280" y="263347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Balanced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4800600" y="313639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ECAE6"/>
                </a:solidFill>
              </a:rPr>
              <a:t>Accuracy: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6812280" y="3136392"/>
            <a:ext cx="1828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C39A"/>
                </a:solidFill>
              </a:rPr>
              <a:t>~82%</a:t>
            </a:r>
            <a:endParaRPr lang="en-US" sz="1100" dirty="0"/>
          </a:p>
        </p:txBody>
      </p:sp>
      <p:sp>
        <p:nvSpPr>
          <p:cNvPr id="32" name="Text 29"/>
          <p:cNvSpPr/>
          <p:nvPr/>
        </p:nvSpPr>
        <p:spPr>
          <a:xfrm>
            <a:off x="4800600" y="3657600"/>
            <a:ext cx="3749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BA7C2"/>
                </a:solidFill>
              </a:rPr>
              <a:t>Top predictors: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7C2"/>
                </a:solidFill>
              </a:rPr>
              <a:t>burnout_risk_score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7C2"/>
                </a:solidFill>
              </a:rPr>
              <a:t>work_life_balance_score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BA7C2"/>
                </a:solidFill>
              </a:rPr>
              <a:t>manual_work_hours_per_week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9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914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65A82">
              <a:alpha val="78000"/>
            </a:srgbClr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57200" y="182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Recommendations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365760" y="100584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02920" y="135331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029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1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987552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Scale AI Adoption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87552" y="142646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8"/>
                </a:solidFill>
              </a:rPr>
              <a:t>Prioritize training &amp; tooling for low-adoption roles (Designers, Managers) to close the efficiency gap.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365760" y="233172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02920" y="267919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87552" y="2404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Balance AI Usage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987552" y="275234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8"/>
                </a:solidFill>
              </a:rPr>
              <a:t>Encourage moderate AI usage — very high usage may signal overload. Monitor work-life balance as adoption grows.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65760" y="365760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02920" y="400507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02920" y="4005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3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87552" y="373075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Deploy Burnout Predictor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987552" y="407822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8"/>
                </a:solidFill>
              </a:rPr>
              <a:t>Use the ML classification model as an HR early-warning system to identify and support at-risk employees proactively.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937760" y="100584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5074920" y="135331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074920" y="13533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5559552" y="107899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Reduce Deadline Pressure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559552" y="142646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8"/>
                </a:solidFill>
              </a:rPr>
              <a:t>Realistic project planning protects output quality — high pressure increases error rates by ~47%.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4937760" y="2331720"/>
            <a:ext cx="4297680" cy="1170432"/>
          </a:xfrm>
          <a:prstGeom prst="rect">
            <a:avLst/>
          </a:prstGeom>
          <a:solidFill>
            <a:srgbClr val="FFFFFF"/>
          </a:solidFill>
          <a:ln w="12700">
            <a:solidFill>
              <a:srgbClr val="D4E9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5074920" y="2679192"/>
            <a:ext cx="384048" cy="384048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5074920" y="26791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5A82"/>
                </a:solidFill>
              </a:rPr>
              <a:t>5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5559552" y="2404872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5A82"/>
                </a:solidFill>
              </a:rPr>
              <a:t>Protect Focus Time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5559552" y="2752344"/>
            <a:ext cx="35661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A6278"/>
                </a:solidFill>
              </a:rPr>
              <a:t>focus_hours_per_day is a top driver of productivity. Preserve deep-work time through organizational norms.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20C18">
              <a:alpha val="86000"/>
            </a:srgbClr>
          </a:solidFill>
          <a:ln w="12700">
            <a:solidFill>
              <a:srgbClr val="020C18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27432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</a:rPr>
              <a:t>Conclusion</a:t>
            </a:r>
            <a:endParaRPr lang="en-US" sz="3200" dirty="0"/>
          </a:p>
        </p:txBody>
      </p:sp>
      <p:sp>
        <p:nvSpPr>
          <p:cNvPr id="6" name="Shape 3"/>
          <p:cNvSpPr/>
          <p:nvPr/>
        </p:nvSpPr>
        <p:spPr>
          <a:xfrm>
            <a:off x="777240" y="11887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70432" y="113385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delivers measurable efficiency gains — up to 54% fewer manual work hours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77240" y="18745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70432" y="181965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is uneven: Developers &amp; Writers lead; Managers &amp; Designers lag behind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777240" y="25603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70432" y="250545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AI usage correlates with better work-life balance; over-use may indicate strain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777240" y="32461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170432" y="319125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can predict productivity (R²≈0.87) and burnout risk (~82% accuracy)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777240" y="3931920"/>
            <a:ext cx="256032" cy="256032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170432" y="3877056"/>
            <a:ext cx="7406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HR decisions can drive both productivity and employee well-being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0" y="475488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A7A9B"/>
                </a:solidFill>
              </a:rPr>
              <a:t>Presented by WINNIE NDUVA  ·  AI Workplace Productivity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Workplace Productivity</dc:title>
  <dc:subject>PptxGenJS Presentation</dc:subject>
  <dc:creator>PptxGenJS</dc:creator>
  <cp:lastModifiedBy>PptxGenJS</cp:lastModifiedBy>
  <cp:revision>1</cp:revision>
  <dcterms:created xsi:type="dcterms:W3CDTF">2026-05-08T18:29:57Z</dcterms:created>
  <dcterms:modified xsi:type="dcterms:W3CDTF">2026-05-08T18:29:57Z</dcterms:modified>
</cp:coreProperties>
</file>